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Yöntem 1: CNN</c:v>
                </c:pt>
              </c:strCache>
            </c:strRef>
          </c:tx>
          <c:spPr>
            <a:solidFill>
              <a:srgbClr val="2F74C0"/>
            </a:solidFill>
          </c:spPr>
          <c:cat>
            <c:strRef>
              <c:f>Sheet1!$A$2:$A$4</c:f>
              <c:strCache>
                <c:ptCount val="3"/>
                <c:pt idx="0">
                  <c:v>Doğruluk</c:v>
                </c:pt>
                <c:pt idx="1">
                  <c:v>Dengeli doğruluk</c:v>
                </c:pt>
                <c:pt idx="2">
                  <c:v>Macro-F1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62.64150943396226</c:v>
                </c:pt>
                <c:pt idx="1">
                  <c:v>62.80995663280461</c:v>
                </c:pt>
                <c:pt idx="2">
                  <c:v>62.82449741493037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+ SpecAugment</c:v>
                </c:pt>
              </c:strCache>
            </c:strRef>
          </c:tx>
          <c:spPr>
            <a:solidFill>
              <a:srgbClr val="C26A1D"/>
            </a:solidFill>
          </c:spPr>
          <c:cat>
            <c:strRef>
              <c:f>Sheet1!$A$2:$A$4</c:f>
              <c:strCache>
                <c:ptCount val="3"/>
                <c:pt idx="0">
                  <c:v>Doğruluk</c:v>
                </c:pt>
                <c:pt idx="1">
                  <c:v>Dengeli doğruluk</c:v>
                </c:pt>
                <c:pt idx="2">
                  <c:v>Macro-F1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62.924528301886795</c:v>
                </c:pt>
                <c:pt idx="1">
                  <c:v>63.11709142755302</c:v>
                </c:pt>
                <c:pt idx="2">
                  <c:v>63.012124256010715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Yöntem 2: BiGRU</c:v>
                </c:pt>
              </c:strCache>
            </c:strRef>
          </c:tx>
          <c:spPr>
            <a:solidFill>
              <a:srgbClr val="1F7A4D"/>
            </a:solidFill>
          </c:spPr>
          <c:cat>
            <c:strRef>
              <c:f>Sheet1!$A$2:$A$4</c:f>
              <c:strCache>
                <c:ptCount val="3"/>
                <c:pt idx="0">
                  <c:v>Doğruluk</c:v>
                </c:pt>
                <c:pt idx="1">
                  <c:v>Dengeli doğruluk</c:v>
                </c:pt>
                <c:pt idx="2">
                  <c:v>Macro-F1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63.77358490566037</c:v>
                </c:pt>
                <c:pt idx="1">
                  <c:v>63.80680805560507</c:v>
                </c:pt>
                <c:pt idx="2">
                  <c:v>64.40260732629888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27432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Konuşmadan Duygu Tanıma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9DC1E4"/>
                </a:solidFill>
                <a:latin typeface="Segoe UI"/>
              </a:rPr>
              <a:t>CREMA-D Üzerinde İki Yöntemin Karşılaştırılması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FD7EE"/>
                </a:solidFill>
                <a:latin typeface="Segoe UI"/>
              </a:rPr>
              <a:t>Yöntem 1: Log-Mel Spektrogram + CNN      •      Yöntem 2: Aralık Öznitelik Serisi + BiGRU</a:t>
            </a:r>
          </a:p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8AA9C9"/>
                </a:solidFill>
                <a:latin typeface="Segoe UI"/>
              </a:rPr>
              <a:t>İkisi de sıfırdan — önceden eğitilmiş model ve transfer öğrenme yok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Ahmet Babagil  •  Öğrenci No: 211101067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8AA9C9"/>
                </a:solidFill>
                <a:latin typeface="Segoe UI"/>
              </a:rPr>
              <a:t>Makine Öğrenmesi Dersi — Final Proje Sunumu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Ajanda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F74C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72768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3B57"/>
                </a:solidFill>
                <a:latin typeface="Segoe UI"/>
              </a:rPr>
              <a:t>Problem ve veri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A90"/>
                </a:solidFill>
                <a:latin typeface="Segoe UI"/>
              </a:rPr>
              <a:t>CREMA-D, 6 duygu, konuşmacı-bağımsız protokol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32304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5117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F74C0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23744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3B57"/>
                </a:solidFill>
                <a:latin typeface="Segoe UI"/>
              </a:rPr>
              <a:t>İki yöntem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A90"/>
                </a:solidFill>
                <a:latin typeface="Segoe UI"/>
              </a:rPr>
              <a:t>Mel + CNN  /  aralık öznitelikleri + BiGRU (sıfırdan)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02152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F74C0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74720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3B57"/>
                </a:solidFill>
                <a:latin typeface="Segoe UI"/>
              </a:rPr>
              <a:t>Deney süreci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A90"/>
                </a:solidFill>
                <a:latin typeface="Segoe UI"/>
              </a:rPr>
              <a:t>43 aday: arama → yerel iyileştirme → geliştirme aşaması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34256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F74C0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25696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3B57"/>
                </a:solidFill>
                <a:latin typeface="Segoe UI"/>
              </a:rPr>
              <a:t>Sonuçlar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A90"/>
                </a:solidFill>
                <a:latin typeface="Segoe UI"/>
              </a:rPr>
              <a:t>Test skorları, öğrenme eğrileri, hata analizi, MELD genellemesi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85232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04104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F74C0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76672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3B57"/>
                </a:solidFill>
                <a:latin typeface="Segoe UI"/>
              </a:rPr>
              <a:t>Çıkarımlar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A90"/>
                </a:solidFill>
                <a:latin typeface="Segoe UI"/>
              </a:rPr>
              <a:t>Ne öğrendik, literatürde neredeyiz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01 • PROBLEM VE VERİ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Problem ve Motivasyon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>
                <a:solidFill>
                  <a:srgbClr val="242B35"/>
                </a:solidFill>
                <a:latin typeface="Segoe UI"/>
              </a:rPr>
              <a:t>▪  Amaç: kısa bir konuşma kaydından konuşmacının duygusunu otomatik tanımak.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242B35"/>
                </a:solidFill>
                <a:latin typeface="Segoe UI"/>
              </a:rPr>
              <a:t>▪  Zorluk: aynı cümle altı farklı duyguyla söyleniyor — içerik değil, söyleyiş (prozodi) belirleyici.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242B35"/>
                </a:solidFill>
                <a:latin typeface="Segoe UI"/>
              </a:rPr>
              <a:t>▪  Kısıt: hazır / önceden eğitilmiş model ve transfer öğrenme YASAK — her şey sıfırdan.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242B35"/>
                </a:solidFill>
                <a:latin typeface="Segoe UI"/>
              </a:rPr>
              <a:t>▪  Katkı: aynı veri ve protokol üzerinde iki farklı temsil yaklaşımının adil karşılaştırması.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69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B7A90"/>
                </a:solidFill>
                <a:latin typeface="Segoe UI"/>
              </a:rPr>
              <a:t>6 duygu sınıfı: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4805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466844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Kızgın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44805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4466844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Tiksinti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4805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466844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Korku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4805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466844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Mutlu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4805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466844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Nötr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44805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4466844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Üzgün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01 • PROBLEM VE VERİ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Veri Kümesi ve Değerlendirme Protokolü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1463040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KAYIT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74C0"/>
                </a:solidFill>
                <a:latin typeface="Segoe UI"/>
              </a:rPr>
              <a:t>7.442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91 aktör • 12 sabit cümle [1]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82296" cy="1463040"/>
          </a:xfrm>
          <a:prstGeom prst="rect">
            <a:avLst/>
          </a:prstGeom>
          <a:solidFill>
            <a:srgbClr val="C26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İNSAN REFERANSI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C26A1D"/>
                </a:solidFill>
                <a:latin typeface="Segoe UI"/>
              </a:rPr>
              <a:t>%40,9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yalnız sesten insan doğruluğu [1]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82296" cy="146304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81912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SINIF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7A4D"/>
                </a:solidFill>
                <a:latin typeface="Segoe UI"/>
              </a:rPr>
              <a:t>6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hafif dengesiz → ağırlıklı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Konuşmacı-bağımsız bölme (aktör kimliğine göre — seed 42):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3441192" cy="11430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31335"/>
            <a:ext cx="32217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Eğitim — 5.234 kayıt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66 aktör; model yalnız burayı görür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30980" y="4146804"/>
            <a:ext cx="301751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3880" y="3703320"/>
            <a:ext cx="3441192" cy="11430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3608" y="3831335"/>
            <a:ext cx="32217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Geçerleme — 1.148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hiperparametre seçimi + erken durdurma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56220" y="4146804"/>
            <a:ext cx="301751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9120" y="3703320"/>
            <a:ext cx="3441192" cy="11430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8847" y="3831335"/>
            <a:ext cx="32217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Test — 1.060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yalnızca seçilen model, bir kez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6636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43A2E"/>
                </a:solidFill>
                <a:latin typeface="Segoe UI"/>
              </a:rPr>
              <a:t>Neden kritik?  Rastgele (kayıt-bazlı) bölme aynı sesi eğitim ve teste sokar; sonuçları 20-30+ puan şişirir.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42B35"/>
                </a:solidFill>
                <a:latin typeface="Segoe UI"/>
              </a:rPr>
              <a:t>İnternetteki %90+ CREMA-D iddiaları bu rejimden geliyor [12] — bu projede tüm sonuçlar konuşmacı-bağımsız.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02 • İKİ YÖNTEM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Yöntem 1 — Log-Mel Spektrogram + CNN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Ses (16 kHz)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mono, tam kayıt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4775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2811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2539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Log-mel 64×128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1024 FFT • 256 atlama • kırp/dolgu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28946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6982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6710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Conv blokları ×3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Conv-BN-ReLU ×2 + MaxPool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3117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1153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0881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Global avg pooling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zaman uzunluğundan bağımsız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97288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85324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5052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Softmax (6)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ağırlıklı 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42B35"/>
                </a:solidFill>
                <a:latin typeface="Segoe UI"/>
              </a:rPr>
              <a:t>▪  Tamamı torch.nn katmanlarından; hazır mimari veya ağırlık yok [2, 4].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42B35"/>
                </a:solidFill>
                <a:latin typeface="Segoe UI"/>
              </a:rPr>
              <a:t>▪  Arama: 11 aday (mel çözünürlüğü dahil) + kazanan etrafında 8 adaylık yerel iyileştirme turu.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B57"/>
                </a:solidFill>
                <a:latin typeface="Segoe UI"/>
              </a:rPr>
              <a:t>Geçerleme kazananı:  32-64-128 kanal • dropout 0.3 • lr 0.001 • batch 16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B7A90"/>
                </a:solidFill>
                <a:latin typeface="Segoe UI"/>
              </a:rPr>
              <a:t>287.654 öğrenilebilir parametre • en iyi epoch 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02 • İKİ YÖNTEM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Yöntem 2 — Aralık Öznitelik Serisi + BiGRU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Ses (16 kHz)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mono, tam kayıt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4775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2811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2539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32 aralık × 200 ms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sayı + genişlik HİPERPARAMETRE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28946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6982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6710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44 öznitelik / aralık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MFCC μ/σ + ΔMFCC + RMS + ZCR + centroid/rolloff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3117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1153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0881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GRU 192×2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çift yönlü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97288" y="2157984"/>
            <a:ext cx="246888" cy="274320"/>
          </a:xfrm>
          <a:prstGeom prst="rightArrow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85324" y="1600200"/>
            <a:ext cx="1954987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C8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5052" y="1728216"/>
            <a:ext cx="17355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B57"/>
                </a:solidFill>
                <a:latin typeface="Segoe UI"/>
              </a:rPr>
              <a:t>mean pooling → Softmax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zaman özeti + ağırlıklı 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42B35"/>
                </a:solidFill>
                <a:latin typeface="Segoe UI"/>
              </a:rPr>
              <a:t>▪  Aralıklar eşit yayılır: kısa kayıtta örtüşür, uzun kayıtta boşluk bırakır → her kayıttan sabit uzunlukta seri.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42B35"/>
                </a:solidFill>
                <a:latin typeface="Segoe UI"/>
              </a:rPr>
              <a:t>▪  Dayanak: çerçeve-düzeyi akustik öznitelik + BLSTM şablonu [6, 7]; öznitelik seçimi eGeMAPS pratiği [9].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7A4D"/>
                </a:solidFill>
                <a:latin typeface="Segoe UI"/>
              </a:rPr>
              <a:t>Kilit bulgu: iyileştirme turu aralık düzenini 24×300 ms tabanından 32×200 ms'ye taşıdı —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2B35"/>
                </a:solidFill>
                <a:latin typeface="Segoe UI"/>
              </a:rPr>
              <a:t>ödevin şart koştuğu bu iki hiperparametre, yöntemi birinciliğe taşıyan farkı yarattı.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03 • DENEY SÜRECİ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Eğitim Protokolü — Her İki Yöntem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57"/>
                </a:solidFill>
                <a:latin typeface="Segoe UI"/>
              </a:rPr>
              <a:t>Optimizasyon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AdamW + weight decay, gradyan kırpma (norm 5)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Karışık hassasiyet (AMP) — GPU'da hızlı denemeler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Sınıf sayısıyla ters orantılı ağırlıklı cross-entropy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Erken durdurma: geçerleme macro-F1, sabır 8; en iyi epoch geri yüklenir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57"/>
                </a:solidFill>
                <a:latin typeface="Segoe UI"/>
              </a:rPr>
              <a:t>Dürüstlük önlemleri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Z-skor normalizasyonu YALNIZ eğitim istatistikleriyle (sızıntı yok)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Hiperparametre seçimi yalnız geçerlemede; test'e tek dokunuş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Sabit tohum (42), deterministik aday listeleri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Freeze aşaması yok: aktarmalı öğrenme yasak → sıfırdan eğitim, erken durdurma doğrudan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52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6B7A90"/>
                </a:solidFill>
                <a:latin typeface="Segoe UI"/>
              </a:rPr>
              <a:t>Toplam 43 aday eğitildi: 19 CNN + 24 RNN (arama + yerel iyileştirme + geliştirme aşaması).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04 • SONUÇLAR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Sonuçlar — CREMA-D Test Kümesi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1600200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63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YÖNTEM 1 • CNN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74C0"/>
                </a:solidFill>
                <a:latin typeface="Segoe UI"/>
              </a:rPr>
              <a:t>%62,6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macro-F1 0,6282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82296" cy="1600200"/>
          </a:xfrm>
          <a:prstGeom prst="rect">
            <a:avLst/>
          </a:prstGeom>
          <a:solidFill>
            <a:srgbClr val="C26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063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CNN + SPECAUGMENT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C26A1D"/>
                </a:solidFill>
                <a:latin typeface="Segoe UI"/>
              </a:rPr>
              <a:t>%62,9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macro-F1 0,6301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82296" cy="16002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81912"/>
            <a:ext cx="3063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YÖNTEM 2 • BiGRU  ★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7A4D"/>
                </a:solidFill>
                <a:latin typeface="Segoe UI"/>
              </a:rPr>
              <a:t>%63,8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macro-F1 0,6440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5800" y="3246120"/>
          <a:ext cx="1088136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04 • SONUÇLAR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Öğrenme Eğrileri — Erken Durdurma İş Başında</a:t>
            </a:r>
          </a:p>
        </p:txBody>
      </p:sp>
      <p:pic>
        <p:nvPicPr>
          <p:cNvPr id="5" name="Picture 4" descr="winner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2176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40680"/>
            <a:ext cx="5440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7A90"/>
                </a:solidFill>
                <a:latin typeface="Segoe UI"/>
              </a:rPr>
              <a:t>Yöntem 1 (CNN): geçerleme kaybı ~12. epoch'ta döndü; erken durdurma aşırı öğrenmeyi kesti</a:t>
            </a:r>
          </a:p>
        </p:txBody>
      </p:sp>
      <p:pic>
        <p:nvPicPr>
          <p:cNvPr id="7" name="Picture 6" descr="winner_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40680" cy="2176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440680"/>
            <a:ext cx="5440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7A90"/>
                </a:solidFill>
                <a:latin typeface="Segoe UI"/>
              </a:rPr>
              <a:t>Yöntem 2 (BiGRU): en iyi epoch 9 — küçük girdiyle hızlı yakınsama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04 • SONUÇLAR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Karışıklık Matrisleri ve Hata Analizi</a:t>
            </a:r>
          </a:p>
        </p:txBody>
      </p:sp>
      <p:pic>
        <p:nvPicPr>
          <p:cNvPr id="5" name="Picture 4" descr="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4916978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504688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7A90"/>
                </a:solidFill>
                <a:latin typeface="Segoe UI"/>
              </a:rPr>
              <a:t>Yöntem 1 (CNN)</a:t>
            </a:r>
          </a:p>
        </p:txBody>
      </p:sp>
      <p:pic>
        <p:nvPicPr>
          <p:cNvPr id="7" name="Picture 6" descr="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4916978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504688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7A90"/>
                </a:solidFill>
                <a:latin typeface="Segoe UI"/>
              </a:rPr>
              <a:t>Yöntem 2 (BiGRU) — köşegen 0,61-0,67, altı sınıfta dengeli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89788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3B57"/>
                </a:solidFill>
                <a:latin typeface="Segoe UI"/>
              </a:rPr>
              <a:t>En belirgin karışmalar: Mutlu → Korku (%21,5)  •  Korku → Üzgün (%20,4)  — benzer uyarılma düzeyindeki duyguların bilinen örtüşmesi [6].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03 • DENEY SÜRECİ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Geliştirme Aşaması — Ne İşe Yaradı, Ne Yaramadı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393192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1F7A4D"/>
                </a:solidFill>
                <a:latin typeface="Segoe UI"/>
              </a:rPr>
              <a:t>✓  CNN + SpecAugment [10]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Geçerleme macro-F1: 0,5531 → 0,5606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Test doğruluğu: 0,6264 → 0,6292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Zaman/frekans maskeleme yalnız eğitim yığınlarına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Hafif varyant işe yaramadı — maskeleme gücü önemli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57800" cy="3931920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B43A2E"/>
                </a:solidFill>
                <a:latin typeface="Segoe UI"/>
              </a:rPr>
              <a:t>✗  BiGRU varyantları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Dikkat havuzlama: 0,5542 (-0,0096)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Öznitelik gürültüsü: 0,5602 (-0,0036)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Dikkat + gürültü: 0,5597 (-0,0041)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42B35"/>
                </a:solidFill>
                <a:latin typeface="Segoe UI"/>
              </a:rPr>
              <a:t>▪  Hiçbiri geçerlemede kazananı geçemedi → test tekrarı YAPILMADI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7058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B57"/>
                </a:solidFill>
                <a:latin typeface="Segoe UI"/>
              </a:rPr>
              <a:t>Olumsuz sonuçlar da rapora girdi: geliştirme kararları yalnız geçerlemeyle verildi; test disiplini korundu.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04 • SONUÇLAR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Genelleme Testi — Aynı Kod, MELD Üzerinde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82296" cy="1554480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MELD • CNN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74C0"/>
                </a:solidFill>
                <a:latin typeface="Segoe UI"/>
              </a:rPr>
              <a:t>%44,3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dengeli doğruluk 0,2303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82296" cy="1554480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MELD • BiGRU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74C0"/>
                </a:solidFill>
                <a:latin typeface="Segoe UI"/>
              </a:rPr>
              <a:t>%38,4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dengeli doğruluk 0,2036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63040"/>
            <a:ext cx="82296" cy="1554480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27632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B7A90"/>
                </a:solidFill>
                <a:latin typeface="Segoe UI"/>
              </a:rPr>
              <a:t>MELD KAYIT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6B7A90"/>
                </a:solidFill>
                <a:latin typeface="Segoe UI"/>
              </a:rPr>
              <a:t>12.070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42B35"/>
                </a:solidFill>
                <a:latin typeface="Segoe UI"/>
              </a:rPr>
              <a:t>dizi diyalogları • 295 konuşmacı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242B35"/>
                </a:solidFill>
                <a:latin typeface="Segoe UI"/>
              </a:rPr>
              <a:t>▪  MELD: gürültü, gülüşmeler, çok kısa kayıtlar — stüdyo kaydı CREMA-D'den çok daha zor koşullar.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42B35"/>
                </a:solidFill>
                <a:latin typeface="Segoe UI"/>
              </a:rPr>
              <a:t>▪  Ham doğruluk ile dengeli doğruluk arasındaki büyük fark nötr sınıf baskınlığını gösteriyor.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42B35"/>
                </a:solidFill>
                <a:latin typeface="Segoe UI"/>
              </a:rPr>
              <a:t>▪  Ses-tek-kipli MELD'in düşük kalması literatürde bilinen durum [11] — bu yüzden metin/görüntü kipleri eklenir.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42B35"/>
                </a:solidFill>
                <a:latin typeface="Segoe UI"/>
              </a:rPr>
              <a:t>▪  Çıkarım: yöntemler kod değişikliği olmadan yeni corpus'a taşınıyor; sınır, veri koşullarının kendisi.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05 • ÇIKARIMLAR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Literatürde Neredeyiz? (CREMA-D, konuşmacı-bağımsız)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C8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50771" y="3186684"/>
            <a:ext cx="256032" cy="256032"/>
          </a:xfrm>
          <a:prstGeom prst="ellipse">
            <a:avLst/>
          </a:prstGeom>
          <a:solidFill>
            <a:srgbClr val="6B7A9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347" y="214884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B7A90"/>
                </a:solidFill>
                <a:latin typeface="Segoe UI"/>
              </a:rPr>
              <a:t>%17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Şans</a:t>
            </a:r>
          </a:p>
        </p:txBody>
      </p:sp>
      <p:sp>
        <p:nvSpPr>
          <p:cNvPr id="8" name="Oval 7"/>
          <p:cNvSpPr/>
          <p:nvPr/>
        </p:nvSpPr>
        <p:spPr>
          <a:xfrm>
            <a:off x="5043464" y="3186684"/>
            <a:ext cx="256032" cy="256032"/>
          </a:xfrm>
          <a:prstGeom prst="ellipse">
            <a:avLst/>
          </a:prstGeom>
          <a:solidFill>
            <a:srgbClr val="C26A1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7040" y="370332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C26A1D"/>
                </a:solidFill>
                <a:latin typeface="Segoe UI"/>
              </a:rPr>
              <a:t>%40,9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İnsan (yalnız ses) [1]</a:t>
            </a:r>
          </a:p>
        </p:txBody>
      </p:sp>
      <p:sp>
        <p:nvSpPr>
          <p:cNvPr id="10" name="Oval 9"/>
          <p:cNvSpPr/>
          <p:nvPr/>
        </p:nvSpPr>
        <p:spPr>
          <a:xfrm>
            <a:off x="8139885" y="3131820"/>
            <a:ext cx="365760" cy="365760"/>
          </a:xfrm>
          <a:prstGeom prst="ellipse">
            <a:avLst/>
          </a:prstGeom>
          <a:solidFill>
            <a:srgbClr val="1F7A4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8325" y="214884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1F7A4D"/>
                </a:solidFill>
                <a:latin typeface="Segoe UI"/>
              </a:rPr>
              <a:t>%63,8</a:t>
            </a:r>
          </a:p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B35"/>
                </a:solidFill>
                <a:latin typeface="Segoe UI"/>
              </a:rPr>
              <a:t>BU PROJE — BiGRU</a:t>
            </a:r>
          </a:p>
        </p:txBody>
      </p:sp>
      <p:sp>
        <p:nvSpPr>
          <p:cNvPr id="12" name="Oval 11"/>
          <p:cNvSpPr/>
          <p:nvPr/>
        </p:nvSpPr>
        <p:spPr>
          <a:xfrm>
            <a:off x="8790797" y="3186684"/>
            <a:ext cx="256032" cy="256032"/>
          </a:xfrm>
          <a:prstGeom prst="ellipse">
            <a:avLst/>
          </a:prstGeom>
          <a:solidFill>
            <a:srgbClr val="2F74C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4373" y="370332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F74C0"/>
                </a:solidFill>
                <a:latin typeface="Segoe UI"/>
              </a:rPr>
              <a:t>%68,1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Sıfırdan tavan (5'li ansambl) [4]</a:t>
            </a:r>
          </a:p>
        </p:txBody>
      </p:sp>
      <p:sp>
        <p:nvSpPr>
          <p:cNvPr id="14" name="Oval 13"/>
          <p:cNvSpPr/>
          <p:nvPr/>
        </p:nvSpPr>
        <p:spPr>
          <a:xfrm>
            <a:off x="9989393" y="3186684"/>
            <a:ext cx="256032" cy="256032"/>
          </a:xfrm>
          <a:prstGeom prst="ellipse">
            <a:avLst/>
          </a:prstGeom>
          <a:solidFill>
            <a:srgbClr val="6B7A9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2969" y="214884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B7A90"/>
                </a:solidFill>
                <a:latin typeface="Segoe UI"/>
              </a:rPr>
              <a:t>~%77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Ön eğitimli SSL üst ucu [11]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42B35"/>
                </a:solidFill>
                <a:latin typeface="Segoe UI"/>
              </a:rPr>
              <a:t>▪  İnsan referansının 22+ puan üzerinde; sıfırdan-tek-model için yayınlanmış tavana 4 puan mesafede.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42B35"/>
                </a:solidFill>
                <a:latin typeface="Segoe UI"/>
              </a:rPr>
              <a:t>▪  %80+ iddialar rastgele bölme/sızıntı ürünü [12] — kıyas ölçütü değil.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C1E4"/>
                </a:solidFill>
                <a:latin typeface="Segoe UI"/>
              </a:rPr>
              <a:t>05 • ÇIKARIMLAR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Sonuç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42B35"/>
                </a:solidFill>
                <a:latin typeface="Segoe UI"/>
              </a:rPr>
              <a:t>▪  İki yöntem de sıfırdan, aynı konuşmacı-bağımsız protokolde: CNN %62,6 • BiGRU %63,8.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42B35"/>
                </a:solidFill>
                <a:latin typeface="Segoe UI"/>
              </a:rPr>
              <a:t>▪  Kazananı hiperparametre araması belirledi: aralık düzeni (32×200 ms) tek başına sıralamayı değiştirdi.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42B35"/>
                </a:solidFill>
                <a:latin typeface="Segoe UI"/>
              </a:rPr>
              <a:t>▪  SpecAugment CNN'i geçerlemede ve testte iyileştirdi; RNN geliştirmeleri dürüstçe 'işe yaramadı' olarak raporlandı.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42B35"/>
                </a:solidFill>
                <a:latin typeface="Segoe UI"/>
              </a:rPr>
              <a:t>▪  MELD genellemesi: kod değişmeden koştu; fark veri koşullarından, yöntemden değil.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42B35"/>
                </a:solidFill>
                <a:latin typeface="Segoe UI"/>
              </a:rPr>
              <a:t>▪  Tüm sayılar, tablolar ve bu sunum deney artefaktlarından üretildi — uçtan uca tekrarlanabilir.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Kaynaklar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[1] Cao vd. (2014). CREMA-D: Crowd-sourced Emotional Multimodal Actors Dataset. IEEE Trans. Affective Computing 5(4):377-390.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[2] Satt, Rozenberg, Hoory (2017). Efficient Emotion Recognition from Speech Using Deep Learning on Spectrograms. Interspeech 2017.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[3] Etienne vd. (2018). CNN+LSTM Architecture for Speech Emotion Recognition with Data Augmentation. arXiv:1802.05630.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[4] Ristea, Ionescu (2021). Self-Paced Ensemble Learning for Speech and Audio Classification. Interspeech 2021 (CREMA-D 6 sınıf %68,1).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[5] Evaluating raw waveforms with deep learning frameworks for speech emotion recognition (2023). arXiv:2307.02820.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[6] Mirsamadi, Barsoum, Zhang (2017). Automatic speech emotion recognition using recurrent neural networks with local attention. ICASSP 2017.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Kaynaklar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[7] Lee, Tashev (2015). High-level feature representation using recurrent neural network for speech emotion recognition. Interspeech 2015.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[8] Kesim, Helli, Cavsak (2023). A Comparison of Time-based Models for Multimodal Emotion Recognition. arXiv:2306.13076.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[9] Eyben vd. (2016). The Geneva Minimalistic Acoustic Parameter Set (GeMAPS). IEEE TAFFC 7(2).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[10] Park vd. (2019). SpecAugment: A Simple Data Augmentation Method for ASR. Interspeech 2019.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[11] Ma vd. (2024). EmoBox: Multilingual Multi-corpus Speech Emotion Recognition Toolkit and Benchmark. Interspeech 2024.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242B35"/>
                </a:solidFill>
                <a:latin typeface="Segoe UI"/>
              </a:rPr>
              <a:t>▪  [12] Speech emotion recognition with light weight deep neural ensemble model using hand crafted features. Sci. Reports (2025) — rastgele bölme şişkinliğine örnek.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Ahmet Babagil  •  211101067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789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6B7A9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27432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Teşekkürler — Sorular?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9DC1E4"/>
                </a:solidFill>
                <a:latin typeface="Segoe UI"/>
              </a:rPr>
              <a:t>Ahmet Babagil  •  211101067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