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media1.wav" ContentType="audio/x-wav"/>
  <Override PartName="/ppt/media/media2.wav" ContentType="audio/x-wav"/>
  <Override PartName="/ppt/media/media3.wav" ContentType="audio/x-wav"/>
  <Override PartName="/ppt/media/media4.wav" ContentType="audio/x-wav"/>
  <Override PartName="/ppt/media/media5.wav" ContentType="audio/x-wav"/>
  <Override PartName="/ppt/media/media6.wav" ContentType="audio/x-wav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Yöntem 1: CNN</c:v>
                </c:pt>
              </c:strCache>
            </c:strRef>
          </c:tx>
          <c:spPr>
            <a:solidFill>
              <a:srgbClr val="2F74C0"/>
            </a:solidFill>
          </c:spPr>
          <c:cat>
            <c:strRef>
              <c:f>Sheet1!$A$2:$A$4</c:f>
              <c:strCache>
                <c:ptCount val="3"/>
                <c:pt idx="0">
                  <c:v>Doğruluk</c:v>
                </c:pt>
                <c:pt idx="1">
                  <c:v>Dengeli doğruluk</c:v>
                </c:pt>
                <c:pt idx="2">
                  <c:v>Macro-F1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62.64150943396226</c:v>
                </c:pt>
                <c:pt idx="1">
                  <c:v>62.80995663280461</c:v>
                </c:pt>
                <c:pt idx="2">
                  <c:v>62.82449741493037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 + SpecAugment</c:v>
                </c:pt>
              </c:strCache>
            </c:strRef>
          </c:tx>
          <c:spPr>
            <a:solidFill>
              <a:srgbClr val="C26A1D"/>
            </a:solidFill>
          </c:spPr>
          <c:cat>
            <c:strRef>
              <c:f>Sheet1!$A$2:$A$4</c:f>
              <c:strCache>
                <c:ptCount val="3"/>
                <c:pt idx="0">
                  <c:v>Doğruluk</c:v>
                </c:pt>
                <c:pt idx="1">
                  <c:v>Dengeli doğruluk</c:v>
                </c:pt>
                <c:pt idx="2">
                  <c:v>Macro-F1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62.924528301886795</c:v>
                </c:pt>
                <c:pt idx="1">
                  <c:v>63.11709142755302</c:v>
                </c:pt>
                <c:pt idx="2">
                  <c:v>63.012124256010715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Yöntem 2: BiGRU</c:v>
                </c:pt>
              </c:strCache>
            </c:strRef>
          </c:tx>
          <c:spPr>
            <a:solidFill>
              <a:srgbClr val="1F7A4D"/>
            </a:solidFill>
          </c:spPr>
          <c:cat>
            <c:strRef>
              <c:f>Sheet1!$A$2:$A$4</c:f>
              <c:strCache>
                <c:ptCount val="3"/>
                <c:pt idx="0">
                  <c:v>Doğruluk</c:v>
                </c:pt>
                <c:pt idx="1">
                  <c:v>Dengeli doğruluk</c:v>
                </c:pt>
                <c:pt idx="2">
                  <c:v>Macro-F1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63.77358490566037</c:v>
                </c:pt>
                <c:pt idx="1">
                  <c:v>63.80680805560507</c:v>
                </c:pt>
                <c:pt idx="2">
                  <c:v>64.40260732629888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wav"/><Relationship Id="rId3" Type="http://schemas.openxmlformats.org/officeDocument/2006/relationships/video" Target="../media/media1.wav"/><Relationship Id="rId4" Type="http://schemas.openxmlformats.org/officeDocument/2006/relationships/image" Target="../media/image1.png"/><Relationship Id="rId5" Type="http://schemas.microsoft.com/office/2007/relationships/media" Target="../media/media2.wav"/><Relationship Id="rId6" Type="http://schemas.openxmlformats.org/officeDocument/2006/relationships/video" Target="../media/media2.wav"/><Relationship Id="rId7" Type="http://schemas.openxmlformats.org/officeDocument/2006/relationships/image" Target="../media/image2.png"/><Relationship Id="rId8" Type="http://schemas.microsoft.com/office/2007/relationships/media" Target="../media/media3.wav"/><Relationship Id="rId9" Type="http://schemas.openxmlformats.org/officeDocument/2006/relationships/video" Target="../media/media3.wav"/><Relationship Id="rId10" Type="http://schemas.openxmlformats.org/officeDocument/2006/relationships/image" Target="../media/image3.png"/><Relationship Id="rId11" Type="http://schemas.microsoft.com/office/2007/relationships/media" Target="../media/media4.wav"/><Relationship Id="rId12" Type="http://schemas.openxmlformats.org/officeDocument/2006/relationships/video" Target="../media/media4.wav"/><Relationship Id="rId13" Type="http://schemas.openxmlformats.org/officeDocument/2006/relationships/image" Target="../media/image4.png"/><Relationship Id="rId14" Type="http://schemas.microsoft.com/office/2007/relationships/media" Target="../media/media5.wav"/><Relationship Id="rId15" Type="http://schemas.openxmlformats.org/officeDocument/2006/relationships/video" Target="../media/media5.wav"/><Relationship Id="rId16" Type="http://schemas.openxmlformats.org/officeDocument/2006/relationships/image" Target="../media/image5.png"/><Relationship Id="rId17" Type="http://schemas.microsoft.com/office/2007/relationships/media" Target="../media/media6.wav"/><Relationship Id="rId18" Type="http://schemas.openxmlformats.org/officeDocument/2006/relationships/video" Target="../media/media6.wav"/><Relationship Id="rId19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gi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gi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27432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Konuşmadan Duygu Tanıma</a:t>
            </a:r>
          </a:p>
          <a:p>
            <a:pPr algn="l">
              <a:spcAft>
                <a:spcPts val="400"/>
              </a:spcAft>
            </a:pPr>
            <a:r>
              <a:rPr sz="2400" b="0" i="0">
                <a:solidFill>
                  <a:srgbClr val="9DC1E4"/>
                </a:solidFill>
                <a:latin typeface="Segoe UI"/>
              </a:rPr>
              <a:t>CREMA-D Üzerinde İki Yöntemin Karşılaştırılması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BFD7EE"/>
                </a:solidFill>
                <a:latin typeface="Segoe UI"/>
              </a:rPr>
              <a:t>Yöntem 1: Log-Mel + CNN      •      Yöntem 2: Aralık Serisi + BiGRU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8AA9C9"/>
                </a:solidFill>
                <a:latin typeface="Segoe UI"/>
              </a:rPr>
              <a:t>İkisi de sıfırdan — hazır model yok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Ahmet Babagil  •  Öğrenci No: 211101067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AA9C9"/>
                </a:solidFill>
                <a:latin typeface="Segoe UI"/>
              </a:rPr>
              <a:t>Makine Öğrenmesi — Final Sunumu •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Veri Seti ve Proje Bağlantıları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3564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55648"/>
            <a:ext cx="103327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Proje çalışması (Drive)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https://drive.google.com/drive/folders/1Hbp4WtCGFZjpvQCDxFmqtOmeqq-SMPvW?usp=sharing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761488"/>
            <a:ext cx="1083564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871216"/>
            <a:ext cx="103327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Kod deposu (GitHub)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https://github.com/AhmetBabagil/speech-emotion-recognition/tree/feat/speech-emotion-recognition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877056"/>
            <a:ext cx="1083564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986784"/>
            <a:ext cx="103327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Veri seti — CREMA-D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https://github.com/CheyneyComputerScience/CREMA-D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992624"/>
            <a:ext cx="1083564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102352"/>
            <a:ext cx="103327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Genelleme — MELD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https://github.com/declare-lab/MELD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Ajanda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35640" cy="8229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00784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737360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Problem ve veri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87168"/>
            <a:ext cx="10835640" cy="8229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670048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İki yöntem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10835640" cy="8229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661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602736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Deney süreci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352544"/>
            <a:ext cx="10835640" cy="8229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9884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535424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Sonuçlar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285231"/>
            <a:ext cx="10835640" cy="8229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31536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468112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Çıkarımlar + canlı demo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01 • PROBLEM VE VERİ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Ses → duygu (6 sınıf)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İçerik değil, SÖYLEYİŞ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Hazır model YASAK → sıfırdan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2 yöntem, adil yarış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977639"/>
            <a:ext cx="10835640" cy="4572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🔊  AYNI CÜMLE — 6 DUYGU   (tıkla, dinlet)</a:t>
            </a:r>
          </a:p>
        </p:txBody>
      </p:sp>
      <p:pic>
        <p:nvPicPr>
          <p:cNvPr id="8" name="1001_IEO_ANG_HI.wav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5800" y="4617720"/>
            <a:ext cx="1691640" cy="868680"/>
          </a:xfrm>
          <a:prstGeom prst="rect">
            <a:avLst/>
          </a:prstGeom>
        </p:spPr>
      </p:pic>
      <p:pic>
        <p:nvPicPr>
          <p:cNvPr id="9" name="1001_IEO_DIS_HI.wav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514600" y="4617720"/>
            <a:ext cx="1691640" cy="868680"/>
          </a:xfrm>
          <a:prstGeom prst="rect">
            <a:avLst/>
          </a:prstGeom>
        </p:spPr>
      </p:pic>
      <p:pic>
        <p:nvPicPr>
          <p:cNvPr id="10" name="1001_IEO_FEA_HI.wav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343400" y="4617720"/>
            <a:ext cx="1691640" cy="868680"/>
          </a:xfrm>
          <a:prstGeom prst="rect">
            <a:avLst/>
          </a:prstGeom>
        </p:spPr>
      </p:pic>
      <p:pic>
        <p:nvPicPr>
          <p:cNvPr id="11" name="1001_IEO_HAP_HI.wav">
            <a:hlinkClick r:id="" action="ppaction://media"/>
          </p:cNvPr>
          <p:cNvPicPr>
            <a:picLocks noChangeAspect="1"/>
          </p:cNvPicPr>
          <p:nvPr>
            <a:vide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6172200" y="4617720"/>
            <a:ext cx="1691640" cy="868680"/>
          </a:xfrm>
          <a:prstGeom prst="rect">
            <a:avLst/>
          </a:prstGeom>
        </p:spPr>
      </p:pic>
      <p:pic>
        <p:nvPicPr>
          <p:cNvPr id="12" name="1001_IEO_NEU_XX.wav">
            <a:hlinkClick r:id="" action="ppaction://media"/>
          </p:cNvPr>
          <p:cNvPicPr>
            <a:picLocks noChangeAspect="1"/>
          </p:cNvPicPr>
          <p:nvPr>
            <a:videoFile r:link="rId15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001000" y="4617720"/>
            <a:ext cx="1691640" cy="868680"/>
          </a:xfrm>
          <a:prstGeom prst="rect">
            <a:avLst/>
          </a:prstGeom>
        </p:spPr>
      </p:pic>
      <p:pic>
        <p:nvPicPr>
          <p:cNvPr id="13" name="1001_IEO_SAD_HI.wav">
            <a:hlinkClick r:id="" action="ppaction://media"/>
          </p:cNvPr>
          <p:cNvPicPr>
            <a:picLocks noChangeAspect="1"/>
          </p:cNvPicPr>
          <p:nvPr>
            <a:videoFile r:link="rId18"/>
            <p:extLst>
              <p:ext uri="{DAA4B4D4-6D71-4841-9C94-3DE7FCFB9230}">
                <p14:media xmlns:p14="http://schemas.microsoft.com/office/powerpoint/2010/main" r:embed="rId17"/>
              </p:ext>
            </p:extLst>
          </p:nvPr>
        </p:nvPicPr>
        <p:blipFill>
          <a:blip r:embed="rId19"/>
          <a:stretch>
            <a:fillRect/>
          </a:stretch>
        </p:blipFill>
        <p:spPr>
          <a:xfrm>
            <a:off x="9829800" y="4617720"/>
            <a:ext cx="169164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5715000"/>
            <a:ext cx="10835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7A90"/>
                </a:solidFill>
                <a:latin typeface="Segoe UI"/>
              </a:rPr>
              <a:t>"It's eleven o'clock" — aktör 1001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5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6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01 • PROBLEM VE VERİ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Veri Kümesi: CREMA-D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429000" cy="14173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71600"/>
            <a:ext cx="82296" cy="141732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36192"/>
            <a:ext cx="30632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KAYIT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7.442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91 aktör • 48 E / 43 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429000" cy="14173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371600"/>
            <a:ext cx="82296" cy="1417320"/>
          </a:xfrm>
          <a:prstGeom prst="rect">
            <a:avLst/>
          </a:prstGeom>
          <a:solidFill>
            <a:srgbClr val="C26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36192"/>
            <a:ext cx="30632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İNSAN (yalnız ses)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C26A1D"/>
                </a:solidFill>
                <a:latin typeface="Segoe UI"/>
              </a:rPr>
              <a:t>%40,9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kıyas çizgimiz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371600"/>
            <a:ext cx="3429000" cy="14173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371600"/>
            <a:ext cx="82296" cy="141732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36192"/>
            <a:ext cx="30632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DUYGU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7A4D"/>
                </a:solidFill>
                <a:latin typeface="Segoe UI"/>
              </a:rPr>
              <a:t>6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nötr biraz az → ağırlıklı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0175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Nasıl oluşturuldu?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29000"/>
            <a:ext cx="3441192" cy="10515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557016"/>
            <a:ext cx="3221736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Stüdyo kaydı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91 profesyonel aktör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30980" y="3826764"/>
            <a:ext cx="301751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73880" y="3429000"/>
            <a:ext cx="3441192" cy="10515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3608" y="3557016"/>
            <a:ext cx="3221736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12 sabit cümle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her biri 6 duyguyla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56220" y="3826764"/>
            <a:ext cx="301751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99120" y="3429000"/>
            <a:ext cx="3441192" cy="10515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8847" y="3557016"/>
            <a:ext cx="3221736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Kitle etiketleme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~2.400 değerlendirici oyladı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54880"/>
            <a:ext cx="3441192" cy="10058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882896"/>
            <a:ext cx="322173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EĞİTİM — 5.234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66 aktör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030980" y="5129784"/>
            <a:ext cx="301751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73880" y="4754880"/>
            <a:ext cx="3441192" cy="10058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3608" y="4882896"/>
            <a:ext cx="322173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GEÇERLEME — 1.148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ayar seçimi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856220" y="5129784"/>
            <a:ext cx="301751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9120" y="4754880"/>
            <a:ext cx="3441192" cy="10058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8847" y="4882896"/>
            <a:ext cx="322173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TEST — 1.060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tek dokunuş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94360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998464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B43A2E"/>
                </a:solidFill>
                <a:latin typeface="Segoe UI"/>
              </a:rPr>
              <a:t>Bölme AKTÖRE göre — rastgele bölme skoru 20-30 puan şişirir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01 • PROBLEM VE VERİ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Bölme Nasıl Yapıldı?</a:t>
            </a:r>
          </a:p>
        </p:txBody>
      </p:sp>
      <p:pic>
        <p:nvPicPr>
          <p:cNvPr id="5" name="Picture 4" descr="konusmaci_bolm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371600"/>
            <a:ext cx="9692640" cy="4307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Yöntem 1 — Log-Mel +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Ses (16 kHz)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/>
            </a:r>
          </a:p>
        </p:txBody>
      </p:sp>
      <p:sp>
        <p:nvSpPr>
          <p:cNvPr id="7" name="Right Arrow 6"/>
          <p:cNvSpPr/>
          <p:nvPr/>
        </p:nvSpPr>
        <p:spPr>
          <a:xfrm>
            <a:off x="2544775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2811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2539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Log-mel 64×128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sesin 'resmi'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28946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6982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26710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Conv blokları ×3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32-64-128 kanal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13117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01153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81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Global avg pooling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/>
            </a:r>
          </a:p>
        </p:txBody>
      </p:sp>
      <p:sp>
        <p:nvSpPr>
          <p:cNvPr id="16" name="Right Arrow 15"/>
          <p:cNvSpPr/>
          <p:nvPr/>
        </p:nvSpPr>
        <p:spPr>
          <a:xfrm>
            <a:off x="9397288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85324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5052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Softmax (6)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114800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24528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Kazanan: 32-64-128 kanal • dropout 0.3 • lr 0.001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B7A90"/>
                </a:solidFill>
                <a:latin typeface="Segoe UI"/>
              </a:rPr>
              <a:t>287.654 parametre • 11 aday + 8 iyileştirme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Sesin 'Resme' Dönüşümü</a:t>
            </a:r>
          </a:p>
        </p:txBody>
      </p:sp>
      <p:pic>
        <p:nvPicPr>
          <p:cNvPr id="5" name="Picture 4" descr="spectrogram_olusum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371600"/>
            <a:ext cx="9601200" cy="4693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Konvolüsyon — CNN'in Çekirdeği</a:t>
            </a:r>
          </a:p>
        </p:txBody>
      </p:sp>
      <p:pic>
        <p:nvPicPr>
          <p:cNvPr id="5" name="Picture 4" descr="konvolusy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554480"/>
            <a:ext cx="9601200" cy="3413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MaxPool — Haritayı Özetlemek</a:t>
            </a:r>
          </a:p>
        </p:txBody>
      </p:sp>
      <p:pic>
        <p:nvPicPr>
          <p:cNvPr id="5" name="Picture 4" descr="maxpool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1554480"/>
            <a:ext cx="91440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Yöntem 2 — Aralık Serisi + BiGRU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Ses (16 kHz)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/>
            </a:r>
          </a:p>
        </p:txBody>
      </p:sp>
      <p:sp>
        <p:nvSpPr>
          <p:cNvPr id="7" name="Right Arrow 6"/>
          <p:cNvSpPr/>
          <p:nvPr/>
        </p:nvSpPr>
        <p:spPr>
          <a:xfrm>
            <a:off x="2544775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2811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2539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32 aralık × 200 ms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HİPERPARAMETRE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28946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6982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26710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44 öznitelik / aralık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MFCC + enerji + spektral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13117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01153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81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GRU 192×2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çift yönlü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97288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85324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5052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mean pool → Softmax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114800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24528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7A4D"/>
                </a:solidFill>
                <a:latin typeface="Segoe UI"/>
              </a:rPr>
              <a:t>İyileştirme turu: 24×300 ms → 32×200 ms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42B35"/>
                </a:solidFill>
                <a:latin typeface="Segoe UI"/>
              </a:rPr>
              <a:t>Birinciliği getiren hamle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Aralık Pencereleri</a:t>
            </a:r>
          </a:p>
        </p:txBody>
      </p:sp>
      <p:pic>
        <p:nvPicPr>
          <p:cNvPr id="5" name="Picture 4" descr="aralik_pencereler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645920"/>
            <a:ext cx="10058400" cy="3464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GRU — Not Defteriyle Okuma</a:t>
            </a:r>
          </a:p>
        </p:txBody>
      </p:sp>
      <p:pic>
        <p:nvPicPr>
          <p:cNvPr id="5" name="Picture 4" descr="gru_belle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463040"/>
            <a:ext cx="9601200" cy="4267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03 • DENEY SÜRECİ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Eğitim Protokolü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257800" cy="3749039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3B57"/>
                </a:solidFill>
                <a:latin typeface="Segoe UI"/>
              </a:rPr>
              <a:t>Optimizasyon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AdamW + weight decay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Ağırlıklı cross-entropy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Early stopping (sabır 8)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Gradyan kırpma + AMP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257800" cy="3749039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3B57"/>
                </a:solidFill>
                <a:latin typeface="Segoe UI"/>
              </a:rPr>
              <a:t>Dürüstlük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Z-skor: YALNIZ eğitimden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Seçim: yalnız geçerlemede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Test: tek dokunuş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Sabit seed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4406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6B7A90"/>
                </a:solidFill>
                <a:latin typeface="Segoe UI"/>
              </a:rPr>
              <a:t>43 aday: 19 CNN + 24 RNN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03 • DENEY SÜRECİ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Ağırlıklı Loss — Neden?</a:t>
            </a:r>
          </a:p>
        </p:txBody>
      </p:sp>
      <p:pic>
        <p:nvPicPr>
          <p:cNvPr id="5" name="Picture 4" descr="agirlikli_los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645920"/>
            <a:ext cx="9601200" cy="38404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03 • DENEY SÜRECİ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Softmax — Puandan Olasılığa</a:t>
            </a:r>
          </a:p>
        </p:txBody>
      </p:sp>
      <p:pic>
        <p:nvPicPr>
          <p:cNvPr id="5" name="Picture 4" descr="softmax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645920"/>
            <a:ext cx="9601200" cy="3627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Sonuçlar — CREMA-D 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82296" cy="160020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81912"/>
            <a:ext cx="3063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YÖNTEM 1 • CNN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%62,6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macro-F1 0,6282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17320"/>
            <a:ext cx="82296" cy="1600200"/>
          </a:xfrm>
          <a:prstGeom prst="rect">
            <a:avLst/>
          </a:prstGeom>
          <a:solidFill>
            <a:srgbClr val="C26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81912"/>
            <a:ext cx="3063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CNN + SPECAUGMENT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C26A1D"/>
                </a:solidFill>
                <a:latin typeface="Segoe UI"/>
              </a:rPr>
              <a:t>%62,9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macro-F1 0,6301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417320"/>
            <a:ext cx="82296" cy="160020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81912"/>
            <a:ext cx="3063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YÖNTEM 2 • BiGRU  ★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7A4D"/>
                </a:solidFill>
                <a:latin typeface="Segoe UI"/>
              </a:rPr>
              <a:t>%63,8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macro-F1 0,6440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85800" y="3246120"/>
          <a:ext cx="1088136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ectangle 14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Öğrenme Eğrileri</a:t>
            </a:r>
          </a:p>
        </p:txBody>
      </p:sp>
      <p:pic>
        <p:nvPicPr>
          <p:cNvPr id="5" name="Picture 4" descr="winner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5440680" cy="2176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5440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6B7A90"/>
                </a:solidFill>
                <a:latin typeface="Segoe UI"/>
              </a:rPr>
              <a:t>Yöntem 1 (CNN)</a:t>
            </a:r>
          </a:p>
        </p:txBody>
      </p:sp>
      <p:pic>
        <p:nvPicPr>
          <p:cNvPr id="7" name="Picture 6" descr="winner_learning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440680" cy="21762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486400"/>
            <a:ext cx="5440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6B7A90"/>
                </a:solidFill>
                <a:latin typeface="Segoe UI"/>
              </a:rPr>
              <a:t>Yöntem 2 (BiGRU)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Early Stopping İş Başında</a:t>
            </a:r>
          </a:p>
        </p:txBody>
      </p:sp>
      <p:pic>
        <p:nvPicPr>
          <p:cNvPr id="5" name="Picture 4" descr="early_stopp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554480"/>
            <a:ext cx="1005840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Karışıklık Matrisleri</a:t>
            </a:r>
          </a:p>
        </p:txBody>
      </p:sp>
      <p:pic>
        <p:nvPicPr>
          <p:cNvPr id="5" name="Picture 4" descr="tes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5295207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897880"/>
            <a:ext cx="5440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6B7A90"/>
                </a:solidFill>
                <a:latin typeface="Segoe UI"/>
              </a:rPr>
              <a:t>Yöntem 1 (CNN)</a:t>
            </a:r>
          </a:p>
        </p:txBody>
      </p:sp>
      <p:pic>
        <p:nvPicPr>
          <p:cNvPr id="7" name="Picture 6" descr="test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295207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897880"/>
            <a:ext cx="5440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6B7A90"/>
                </a:solidFill>
                <a:latin typeface="Segoe UI"/>
              </a:rPr>
              <a:t>Yöntem 2 (BiGRU)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Neden Macro-F1? — %90 Tuzağı</a:t>
            </a:r>
          </a:p>
        </p:txBody>
      </p:sp>
      <p:pic>
        <p:nvPicPr>
          <p:cNvPr id="5" name="Picture 4" descr="dogruluk_tuzag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645920"/>
            <a:ext cx="9601200" cy="3627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03 • DENEY SÜRECİ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Geliştirme Aşaması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257800" cy="384048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7A4D"/>
                </a:solidFill>
                <a:latin typeface="Segoe UI"/>
              </a:rPr>
              <a:t>✓  CNN + SpecAugment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4754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50">
                <a:solidFill>
                  <a:srgbClr val="242B35"/>
                </a:solidFill>
                <a:latin typeface="Segoe UI"/>
              </a:rPr>
              <a:t>▪  Val: 0,5531 → 0,5606</a:t>
            </a:r>
          </a:p>
          <a:p>
            <a:pPr>
              <a:spcAft>
                <a:spcPts val="1100"/>
              </a:spcAft>
            </a:pPr>
            <a:r>
              <a:rPr sz="1550">
                <a:solidFill>
                  <a:srgbClr val="242B35"/>
                </a:solidFill>
                <a:latin typeface="Segoe UI"/>
              </a:rPr>
              <a:t>▪  Test: 0,6264 → 0,6292</a:t>
            </a:r>
          </a:p>
          <a:p>
            <a:pPr>
              <a:spcAft>
                <a:spcPts val="1100"/>
              </a:spcAft>
            </a:pPr>
            <a:r>
              <a:rPr sz="1550">
                <a:solidFill>
                  <a:srgbClr val="242B35"/>
                </a:solidFill>
                <a:latin typeface="Segoe UI"/>
              </a:rPr>
              <a:t>▪  Maskeleme yalnız eğitimde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257800" cy="3840480"/>
          </a:xfrm>
          <a:prstGeom prst="roundRect">
            <a:avLst>
              <a:gd name="adj" fmla="val 8000"/>
            </a:avLst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B43A2E"/>
                </a:solidFill>
                <a:latin typeface="Segoe UI"/>
              </a:rPr>
              <a:t>✗  BiGRU varyantları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331720"/>
            <a:ext cx="4754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50">
                <a:solidFill>
                  <a:srgbClr val="242B35"/>
                </a:solidFill>
                <a:latin typeface="Segoe UI"/>
              </a:rPr>
              <a:t>▪  Dikkat havuzlama: geçemedi</a:t>
            </a:r>
          </a:p>
          <a:p>
            <a:pPr>
              <a:spcAft>
                <a:spcPts val="1100"/>
              </a:spcAft>
            </a:pPr>
            <a:r>
              <a:rPr sz="1550">
                <a:solidFill>
                  <a:srgbClr val="242B35"/>
                </a:solidFill>
                <a:latin typeface="Segoe UI"/>
              </a:rPr>
              <a:t>▪  Gürültü: geçemedi</a:t>
            </a:r>
          </a:p>
          <a:p>
            <a:pPr>
              <a:spcAft>
                <a:spcPts val="1100"/>
              </a:spcAft>
            </a:pPr>
            <a:r>
              <a:rPr sz="1550">
                <a:solidFill>
                  <a:srgbClr val="242B35"/>
                </a:solidFill>
                <a:latin typeface="Segoe UI"/>
              </a:rPr>
              <a:t>▪  → Test tekrarı YAPILMADI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532120"/>
            <a:ext cx="10881360" cy="5486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614416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Olumsuz sonuç da rapora girdi — test disiplini korundu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Genelleme: MELD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54480"/>
            <a:ext cx="82296" cy="155448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MELD • CNN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%44,3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dengeli 0,2303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554480"/>
            <a:ext cx="82296" cy="155448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19072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MELD • BiGRU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%38,4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dengeli 0,2036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55448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554480"/>
            <a:ext cx="82296" cy="1554480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719072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KAYIT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6B7A90"/>
                </a:solidFill>
                <a:latin typeface="Segoe UI"/>
              </a:rPr>
              <a:t>12.070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dizi diyalogları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42B35"/>
                </a:solidFill>
                <a:latin typeface="Segoe UI"/>
              </a:rPr>
              <a:t>▪  Aynı kod, sıfır değişiklik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42B35"/>
                </a:solidFill>
                <a:latin typeface="Segoe UI"/>
              </a:rPr>
              <a:t>▪  Gürültü + kısa kayıt + nötr baskın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42B35"/>
                </a:solidFill>
                <a:latin typeface="Segoe UI"/>
              </a:rPr>
              <a:t>▪  Sınır: yöntem değil, veri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05 • ÇIKARIMLAR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Literatürde Neredeyiz?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91840"/>
            <a:ext cx="10332720" cy="45720"/>
          </a:xfrm>
          <a:prstGeom prst="rect">
            <a:avLst/>
          </a:prstGeom>
          <a:solidFill>
            <a:srgbClr val="C8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50771" y="3186684"/>
            <a:ext cx="256032" cy="256032"/>
          </a:xfrm>
          <a:prstGeom prst="ellipse">
            <a:avLst/>
          </a:prstGeom>
          <a:solidFill>
            <a:srgbClr val="6B7A9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347" y="214884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B7A90"/>
                </a:solidFill>
                <a:latin typeface="Segoe UI"/>
              </a:rPr>
              <a:t>%17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Şans</a:t>
            </a:r>
          </a:p>
        </p:txBody>
      </p:sp>
      <p:sp>
        <p:nvSpPr>
          <p:cNvPr id="8" name="Oval 7"/>
          <p:cNvSpPr/>
          <p:nvPr/>
        </p:nvSpPr>
        <p:spPr>
          <a:xfrm>
            <a:off x="5043464" y="3186684"/>
            <a:ext cx="256032" cy="256032"/>
          </a:xfrm>
          <a:prstGeom prst="ellipse">
            <a:avLst/>
          </a:prstGeom>
          <a:solidFill>
            <a:srgbClr val="C26A1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7040" y="370332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6A1D"/>
                </a:solidFill>
                <a:latin typeface="Segoe UI"/>
              </a:rPr>
              <a:t>%40,9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İnsan [1]</a:t>
            </a:r>
          </a:p>
        </p:txBody>
      </p:sp>
      <p:sp>
        <p:nvSpPr>
          <p:cNvPr id="10" name="Oval 9"/>
          <p:cNvSpPr/>
          <p:nvPr/>
        </p:nvSpPr>
        <p:spPr>
          <a:xfrm>
            <a:off x="8139885" y="3131820"/>
            <a:ext cx="365760" cy="365760"/>
          </a:xfrm>
          <a:prstGeom prst="ellipse">
            <a:avLst/>
          </a:prstGeom>
          <a:solidFill>
            <a:srgbClr val="1F7A4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8325" y="214884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F7A4D"/>
                </a:solidFill>
                <a:latin typeface="Segoe UI"/>
              </a:rPr>
              <a:t>%63,8</a:t>
            </a:r>
          </a:p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242B35"/>
                </a:solidFill>
                <a:latin typeface="Segoe UI"/>
              </a:rPr>
              <a:t>BU PROJE</a:t>
            </a:r>
          </a:p>
        </p:txBody>
      </p:sp>
      <p:sp>
        <p:nvSpPr>
          <p:cNvPr id="12" name="Oval 11"/>
          <p:cNvSpPr/>
          <p:nvPr/>
        </p:nvSpPr>
        <p:spPr>
          <a:xfrm>
            <a:off x="8790797" y="3186684"/>
            <a:ext cx="256032" cy="256032"/>
          </a:xfrm>
          <a:prstGeom prst="ellipse">
            <a:avLst/>
          </a:prstGeom>
          <a:solidFill>
            <a:srgbClr val="2F74C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4373" y="370332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2F74C0"/>
                </a:solidFill>
                <a:latin typeface="Segoe UI"/>
              </a:rPr>
              <a:t>%68,1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Sıfırdan tavan [4]</a:t>
            </a:r>
          </a:p>
        </p:txBody>
      </p:sp>
      <p:sp>
        <p:nvSpPr>
          <p:cNvPr id="14" name="Oval 13"/>
          <p:cNvSpPr/>
          <p:nvPr/>
        </p:nvSpPr>
        <p:spPr>
          <a:xfrm>
            <a:off x="9989393" y="3186684"/>
            <a:ext cx="256032" cy="256032"/>
          </a:xfrm>
          <a:prstGeom prst="ellipse">
            <a:avLst/>
          </a:prstGeom>
          <a:solidFill>
            <a:srgbClr val="6B7A9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2969" y="214884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B7A90"/>
                </a:solidFill>
                <a:latin typeface="Segoe UI"/>
              </a:rPr>
              <a:t>~%77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SSL üst ucu [11]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05 • ÇIKARIMLAR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Sonuç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CNN %62,6  •  BiGRU %63,8 ★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Kazandıran: hiperparametre araması (32×200 ms)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Olumsuz bulgular da raporlandı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Uçtan uca tekrar üretilebilir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Sıradaki: CANLI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Kaynaklar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[1] Cao vd. (2014). CREMA-D. IEEE Trans. Affective Computing 5(4):377-390.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[2] Satt vd. (2017). Deep Learning on Spectrograms. Interspeech 2017.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[3] Etienne vd. (2018). CNN+LSTM + Augmentation. arXiv:1802.05630.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[4] Ristea, Ionescu (2021). Self-Paced Ensemble. Interspeech 2021 — CREMA-D %68,1.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[5] Raw waveforms for SER (2023). arXiv:2307.02820 — CNN vs LSTM.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[6] Mirsamadi vd. (2017). RNN + local attention. ICASSP 2017.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Kaynaklar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[7] Lee, Tashev (2015). RNN for SER. Interspeech 2015.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[8] Kesim vd. (2023). Time-based Models. arXiv:2306.13076 — GRU F1 0,64.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[9] Eyben vd. (2016). GeMAPS. IEEE TAFFC 7(2).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[10] Park vd. (2019). SpecAugment. Interspeech 2019.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[11] Ma vd. (2024). EmoBox benchmark. Interspeech 2024.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[12] Sci. Reports (2025) %98,66 iddiası — rastgele bölme şişkinliği örneği.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10128"/>
            <a:ext cx="12191695" cy="27432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Teşekkürler — Sorular?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9DC1E4"/>
                </a:solidFill>
                <a:latin typeface="Segoe UI"/>
              </a:rPr>
              <a:t>Ahmet Babagil  •  211101067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